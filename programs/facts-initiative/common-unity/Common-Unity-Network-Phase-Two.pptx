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where Phase One left us, what Phase Two opens up, and the one step each person can take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before the solution. Everything in F.A.C.T.S. maps to a system families depend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totals are shared — individual member details stay private.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experience has one job. You don't have to do all three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game is the front door for anyone still deciding. It's the fastest way to understand why Unity is on the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is what turns a mailing list into a network. Verification keeps it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step 2: the form does not save automatically — the signed result must be sent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Placement follows the assessment rubric. Coordinators organize the work; they don't own the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precise: Barnarium is a vision and a qualification process right now. No promises of land or admission.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person, one next step. Nobody is asked to do everything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Goals are commitments we're working toward, not results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 action. Put the link on screen and leave it there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muse.ai/s/assessment-form-sxl5xubsp5wxnxa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822960"/>
            <a:ext cx="5303520" cy="5303520"/>
          </a:xfrm>
          <a:prstGeom prst="ellipse">
            <a:avLst/>
          </a:prstGeom>
          <a:solidFill>
            <a:srgbClr val="173F33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2194560"/>
            <a:ext cx="2560320" cy="2560320"/>
          </a:xfrm>
          <a:prstGeom prst="ellipse">
            <a:avLst/>
          </a:prstGeom>
          <a:solidFill>
            <a:srgbClr val="2F6B50"/>
          </a:solidFill>
          <a:ln/>
        </p:spPr>
      </p:sp>
      <p:sp>
        <p:nvSpPr>
          <p:cNvPr id="4" name="Shape 2"/>
          <p:cNvSpPr/>
          <p:nvPr/>
        </p:nvSpPr>
        <p:spPr>
          <a:xfrm>
            <a:off x="10104120" y="3063240"/>
            <a:ext cx="822960" cy="822960"/>
          </a:xfrm>
          <a:prstGeom prst="ellipse">
            <a:avLst/>
          </a:prstGeom>
          <a:solidFill>
            <a:srgbClr val="D9A1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INITIATIVE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Two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it. 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it. </a:t>
            </a:r>
            <a:pPr indent="0" marL="0">
              <a:buNone/>
            </a:pPr>
            <a:r>
              <a:rPr lang="en-US" sz="3600" b="1" dirty="0">
                <a:solidFill>
                  <a:srgbClr val="8DB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briefing on what we've built, where the network is going, and how you take your place in it.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60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F.A.C.T.S.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COMMON 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systems are expensive — and fragile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NETWORK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clothing, shelter, and the tools that connect us are things every family depends on and few families control. When prices climb or a crisis hits, the weak points show fast.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490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2F6B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Unity exists to build practical resilience together — from local working groups to a place-based family-compound pathway.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812280" y="1737360"/>
            <a:ext cx="4828032" cy="4343400"/>
          </a:xfrm>
          <a:prstGeom prst="rect">
            <a:avLst/>
          </a:prstGeom>
          <a:solidFill>
            <a:srgbClr val="0F2E2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0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SYSTEMS WE ORGANIZE AROUND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60920" y="2560320"/>
            <a:ext cx="777240" cy="77724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3002" y="276240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3474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823960" y="2560320"/>
            <a:ext cx="777240" cy="77724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6042" y="276240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95360" y="3474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10287000" y="2560320"/>
            <a:ext cx="777240" cy="77724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082" y="2762402"/>
            <a:ext cx="373075" cy="37307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058400" y="3474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Clothes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7360920" y="4251960"/>
            <a:ext cx="777240" cy="77724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002" y="4454042"/>
            <a:ext cx="373075" cy="37307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132320" y="5166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8823960" y="4251960"/>
            <a:ext cx="777240" cy="77724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6042" y="4454042"/>
            <a:ext cx="373075" cy="37307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595360" y="5166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Shelter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10287000" y="4251960"/>
            <a:ext cx="777240" cy="777240"/>
          </a:xfrm>
          <a:prstGeom prst="ellipse">
            <a:avLst/>
          </a:prstGeom>
          <a:solidFill>
            <a:srgbClr val="D9A13B"/>
          </a:solidFill>
          <a:ln w="12700">
            <a:solidFill>
              <a:srgbClr val="D9A13B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9082" y="4454042"/>
            <a:ext cx="373075" cy="37307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058400" y="5166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One turned interest into a real network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NETWORK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F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9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66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on the finalized roster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20116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6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3566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skills-based pathways ready for placement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20116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6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566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experiences opening in Phase Two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663440"/>
            <a:ext cx="11091672" cy="0"/>
          </a:xfrm>
          <a:prstGeom prst="line">
            <a:avLst/>
          </a:prstGeom>
          <a:noFill/>
          <a:ln w="12700">
            <a:solidFill>
              <a:srgbClr val="2F6B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One collected interest. Phase Two lets you experience the model, enter the network, and choose a concrete way to contribute.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connected experiences, one journey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NETWORK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520440" cy="43434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2103120"/>
            <a:ext cx="868680" cy="868680"/>
          </a:xfrm>
          <a:prstGeom prst="ellipse">
            <a:avLst/>
          </a:prstGeom>
          <a:solidFill>
            <a:srgbClr val="D9A13B"/>
          </a:solidFill>
          <a:ln w="12700">
            <a:solidFill>
              <a:srgbClr val="D9A13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32897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C.U.I. Game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1605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the F.A.C.T.S. model hands-on before you decide where you fit.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5486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F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understanding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297680" y="1783080"/>
            <a:ext cx="3520440" cy="43434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5" name="Shape 11"/>
          <p:cNvSpPr/>
          <p:nvPr/>
        </p:nvSpPr>
        <p:spPr>
          <a:xfrm>
            <a:off x="4617720" y="2103120"/>
            <a:ext cx="868680" cy="86868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577" y="232897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1772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61772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4617720" y="41605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state hub, complete your assessment, and get matched to real work.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617720" y="5486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F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belonging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046720" y="1783080"/>
            <a:ext cx="3520440" cy="43434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22" name="Shape 17"/>
          <p:cNvSpPr/>
          <p:nvPr/>
        </p:nvSpPr>
        <p:spPr>
          <a:xfrm>
            <a:off x="8366760" y="2103120"/>
            <a:ext cx="868680" cy="868680"/>
          </a:xfrm>
          <a:prstGeom prst="ellipse">
            <a:avLst/>
          </a:prstGeom>
          <a:solidFill>
            <a:srgbClr val="0F2E26"/>
          </a:solidFill>
          <a:ln w="12700">
            <a:solidFill>
              <a:srgbClr val="0F2E2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2328977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6676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36676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Barnarium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8366760" y="41605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place-based family-compound pathway built on shared systems.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8366760" y="5486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F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pathway to place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 ·  THE C.U.I. GAME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resilience before crisis arrives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NETWORK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F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8928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six systems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331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Food, Art, Clothes, Tech, Shelter, and Unity at the same time.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004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3218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reserves drain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657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draws down. Neglect one and it shows.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526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4544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the crisis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4983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conditions expose the weak systems you left behind.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720840" y="1783080"/>
            <a:ext cx="4919472" cy="4297680"/>
          </a:xfrm>
          <a:prstGeom prst="rect">
            <a:avLst/>
          </a:prstGeom>
          <a:solidFill>
            <a:srgbClr val="D9A13B"/>
          </a:solidFill>
          <a:ln/>
        </p:spPr>
      </p:sp>
      <p:sp>
        <p:nvSpPr>
          <p:cNvPr id="17" name="Shape 14"/>
          <p:cNvSpPr/>
          <p:nvPr/>
        </p:nvSpPr>
        <p:spPr>
          <a:xfrm>
            <a:off x="7086600" y="2148840"/>
            <a:ext cx="822960" cy="822960"/>
          </a:xfrm>
          <a:prstGeom prst="ellipse">
            <a:avLst/>
          </a:prstGeom>
          <a:solidFill>
            <a:srgbClr val="0F2E26"/>
          </a:solidFill>
          <a:ln w="12700">
            <a:solidFill>
              <a:srgbClr val="0F2E26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0570" y="2362810"/>
            <a:ext cx="395021" cy="39502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08660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086600" y="35661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 and cooperation are survival resources — not extras.</a:t>
            </a:r>
            <a:endParaRPr lang="en-US" sz="2600" dirty="0"/>
          </a:p>
        </p:txBody>
      </p:sp>
      <p:sp>
        <p:nvSpPr>
          <p:cNvPr id="21" name="Text 17"/>
          <p:cNvSpPr txBox="1"/>
          <p:nvPr/>
        </p:nvSpPr>
        <p:spPr>
          <a:xfrm>
            <a:off x="7086600" y="5120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finish: find your real role in the network.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 ·  HOW THE NETWORK IS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verified, state-based network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NETWORK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33472" cy="2788920"/>
          </a:xfrm>
          <a:prstGeom prst="rect">
            <a:avLst/>
          </a:prstGeom>
          <a:solidFill>
            <a:srgbClr val="0F2E2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D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6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HUBS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566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is rooted in a home state.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55848" y="1828800"/>
            <a:ext cx="2633472" cy="278892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630168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400" dirty="0"/>
          </a:p>
        </p:txBody>
      </p:sp>
      <p:sp>
        <p:nvSpPr>
          <p:cNvPr id="13" name="Text 10"/>
          <p:cNvSpPr txBox="1"/>
          <p:nvPr/>
        </p:nvSpPr>
        <p:spPr>
          <a:xfrm>
            <a:off x="3630168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FOUNDING TEAM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30168" y="3566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hub starts with a verified founding team.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63056" y="1828800"/>
            <a:ext cx="2633472" cy="278892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37376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400" dirty="0"/>
          </a:p>
        </p:txBody>
      </p:sp>
      <p:sp>
        <p:nvSpPr>
          <p:cNvPr id="17" name="Text 14"/>
          <p:cNvSpPr txBox="1"/>
          <p:nvPr/>
        </p:nvSpPr>
        <p:spPr>
          <a:xfrm>
            <a:off x="6437376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SERVE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37376" y="3566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through the skills you actually have.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970264" y="1828800"/>
            <a:ext cx="2633472" cy="278892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244584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6400" dirty="0"/>
          </a:p>
        </p:txBody>
      </p:sp>
      <p:sp>
        <p:nvSpPr>
          <p:cNvPr id="21" name="Text 18"/>
          <p:cNvSpPr txBox="1"/>
          <p:nvPr/>
        </p:nvSpPr>
        <p:spPr>
          <a:xfrm>
            <a:off x="9244584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VERIFICATION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244584" y="3566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reconfirmed every 90 days.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5029200"/>
            <a:ext cx="685800" cy="68580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207508"/>
            <a:ext cx="329184" cy="32918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463040" y="5029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levels  </a:t>
            </a:r>
            <a:pPr indent="0" marL="0">
              <a:buNone/>
            </a:pPr>
            <a:r>
              <a:rPr lang="en-US" sz="160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you participate at the capacity you have today — and step up when you're ready.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 ·  YOUR PATH 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 from member to contributor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NETWORK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F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88720" y="2423160"/>
            <a:ext cx="9692640" cy="0"/>
          </a:xfrm>
          <a:prstGeom prst="line">
            <a:avLst/>
          </a:prstGeom>
          <a:noFill/>
          <a:ln w="25400">
            <a:solidFill>
              <a:srgbClr val="2F6B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65960"/>
            <a:ext cx="914400" cy="91440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0370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4015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840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state hub.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017520" y="1965960"/>
            <a:ext cx="914400" cy="914400"/>
          </a:xfrm>
          <a:prstGeom prst="ellipse">
            <a:avLst/>
          </a:prstGeom>
          <a:solidFill>
            <a:srgbClr val="D9A13B"/>
          </a:solidFill>
          <a:ln w="12700">
            <a:solidFill>
              <a:srgbClr val="D9A13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220370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8346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2834640" y="34015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2834640" y="3840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sign your member assessment.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03520" y="1965960"/>
            <a:ext cx="914400" cy="91440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2203704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206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120640" y="34015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120640" y="3840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skills and capacity are reviewed.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7589520" y="1965960"/>
            <a:ext cx="914400" cy="91440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4" y="2203704"/>
            <a:ext cx="438912" cy="43891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066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7406640" y="34015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7406640" y="3840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privacy, hubs, and expectations.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9875520" y="1965960"/>
            <a:ext cx="914400" cy="91440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4" y="2203704"/>
            <a:ext cx="438912" cy="43891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6926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9692640" y="34015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group</a:t>
            </a:r>
            <a:endParaRPr lang="en-US" sz="2100" dirty="0"/>
          </a:p>
        </p:txBody>
      </p:sp>
      <p:sp>
        <p:nvSpPr>
          <p:cNvPr id="32" name="Text 24"/>
          <p:cNvSpPr txBox="1"/>
          <p:nvPr/>
        </p:nvSpPr>
        <p:spPr>
          <a:xfrm>
            <a:off x="9692640" y="3840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contributing on a 30-day cycle.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548640" y="4983480"/>
            <a:ext cx="11091672" cy="1005840"/>
          </a:xfrm>
          <a:prstGeom prst="rect">
            <a:avLst/>
          </a:prstGeom>
          <a:solidFill>
            <a:srgbClr val="173F33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868680" y="4983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 form does not save automatically. Send your signed result back so it can be reviewed.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 ·  WORKING GROUPS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working groups, one shared mission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NETWORK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633472" cy="18288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215908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9992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growers, seeds, storage, and food-system gaps.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355848" y="1783080"/>
            <a:ext cx="2633472" cy="18288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3" name="Shape 9"/>
          <p:cNvSpPr/>
          <p:nvPr/>
        </p:nvSpPr>
        <p:spPr>
          <a:xfrm>
            <a:off x="3584448" y="2011680"/>
            <a:ext cx="566928" cy="566928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849" y="215908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84448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Innovation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584448" y="29992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platform links, permissions, analytics, and backups.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63056" y="1783080"/>
            <a:ext cx="2633472" cy="18288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8" name="Shape 13"/>
          <p:cNvSpPr/>
          <p:nvPr/>
        </p:nvSpPr>
        <p:spPr>
          <a:xfrm>
            <a:off x="6391656" y="2011680"/>
            <a:ext cx="566928" cy="566928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057" y="2159081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91656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&amp; Infrastructure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391656" y="29992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Barnarium site-readiness framework.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970264" y="1783080"/>
            <a:ext cx="2633472" cy="18288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23" name="Shape 17"/>
          <p:cNvSpPr/>
          <p:nvPr/>
        </p:nvSpPr>
        <p:spPr>
          <a:xfrm>
            <a:off x="9198864" y="2011680"/>
            <a:ext cx="566928" cy="566928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6265" y="2159081"/>
            <a:ext cx="272125" cy="27212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198864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Preparedness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9198864" y="29992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game scenarios into a household baseline.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48640" y="3794760"/>
            <a:ext cx="2633472" cy="18288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28" name="Shape 21"/>
          <p:cNvSpPr/>
          <p:nvPr/>
        </p:nvSpPr>
        <p:spPr>
          <a:xfrm>
            <a:off x="777240" y="4023360"/>
            <a:ext cx="566928" cy="566928"/>
          </a:xfrm>
          <a:prstGeom prst="ellipse">
            <a:avLst/>
          </a:prstGeom>
          <a:solidFill>
            <a:srgbClr val="0F2E26"/>
          </a:solidFill>
          <a:ln w="12700">
            <a:solidFill>
              <a:srgbClr val="0F2E2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41" y="4170761"/>
            <a:ext cx="272125" cy="27212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77240" y="4681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Fundraising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777240" y="50109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cost assumptions and financial controls.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3355848" y="3794760"/>
            <a:ext cx="2633472" cy="18288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33" name="Shape 25"/>
          <p:cNvSpPr/>
          <p:nvPr/>
        </p:nvSpPr>
        <p:spPr>
          <a:xfrm>
            <a:off x="3584448" y="4023360"/>
            <a:ext cx="566928" cy="566928"/>
          </a:xfrm>
          <a:prstGeom prst="ellipse">
            <a:avLst/>
          </a:prstGeom>
          <a:solidFill>
            <a:srgbClr val="0F2E26"/>
          </a:solidFill>
          <a:ln w="12700">
            <a:solidFill>
              <a:srgbClr val="0F2E26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1849" y="4170761"/>
            <a:ext cx="272125" cy="27212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584448" y="4681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&amp; Culture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3584448" y="50109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unified story and our public progress.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6163056" y="3794760"/>
            <a:ext cx="2633472" cy="18288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38" name="Shape 29"/>
          <p:cNvSpPr/>
          <p:nvPr/>
        </p:nvSpPr>
        <p:spPr>
          <a:xfrm>
            <a:off x="6391656" y="4023360"/>
            <a:ext cx="566928" cy="566928"/>
          </a:xfrm>
          <a:prstGeom prst="ellipse">
            <a:avLst/>
          </a:prstGeom>
          <a:solidFill>
            <a:srgbClr val="0F2E26"/>
          </a:solidFill>
          <a:ln w="12700">
            <a:solidFill>
              <a:srgbClr val="0F2E26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9057" y="4170761"/>
            <a:ext cx="272125" cy="27212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391656" y="4681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 &amp; Apparel</a:t>
            </a:r>
            <a:endParaRPr lang="en-US" sz="1500" dirty="0"/>
          </a:p>
        </p:txBody>
      </p:sp>
      <p:sp>
        <p:nvSpPr>
          <p:cNvPr id="41" name="Text 31"/>
          <p:cNvSpPr txBox="1"/>
          <p:nvPr/>
        </p:nvSpPr>
        <p:spPr>
          <a:xfrm>
            <a:off x="6391656" y="50109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 practical resilience item and supply plan.</a:t>
            </a:r>
            <a:endParaRPr lang="en-US" sz="1250" dirty="0"/>
          </a:p>
        </p:txBody>
      </p:sp>
      <p:sp>
        <p:nvSpPr>
          <p:cNvPr id="42" name="Shape 32"/>
          <p:cNvSpPr/>
          <p:nvPr/>
        </p:nvSpPr>
        <p:spPr>
          <a:xfrm>
            <a:off x="8970264" y="3794760"/>
            <a:ext cx="2633472" cy="18288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43" name="Shape 33"/>
          <p:cNvSpPr/>
          <p:nvPr/>
        </p:nvSpPr>
        <p:spPr>
          <a:xfrm>
            <a:off x="9198864" y="4023360"/>
            <a:ext cx="566928" cy="566928"/>
          </a:xfrm>
          <a:prstGeom prst="ellipse">
            <a:avLst/>
          </a:prstGeom>
          <a:solidFill>
            <a:srgbClr val="0F2E26"/>
          </a:solidFill>
          <a:ln w="12700">
            <a:solidFill>
              <a:srgbClr val="0F2E26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6265" y="4170761"/>
            <a:ext cx="272125" cy="27212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9198864" y="4681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&amp; Operations</a:t>
            </a:r>
            <a:endParaRPr lang="en-US" sz="1500" dirty="0"/>
          </a:p>
        </p:txBody>
      </p:sp>
      <p:sp>
        <p:nvSpPr>
          <p:cNvPr id="46" name="Text 35"/>
          <p:cNvSpPr txBox="1"/>
          <p:nvPr/>
        </p:nvSpPr>
        <p:spPr>
          <a:xfrm>
            <a:off x="9198864" y="50109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intake, verification, orientation, and follow-up.</a:t>
            </a:r>
            <a:endParaRPr lang="en-US" sz="1250" dirty="0"/>
          </a:p>
        </p:txBody>
      </p:sp>
      <p:sp>
        <p:nvSpPr>
          <p:cNvPr id="47" name="Text 36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F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 leaves orientation with one coordinator, one 30-day deliverable, one meeting rhythm, and one documented contribution.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PROJECTS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pilots to prove the model in 30 days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NETWORK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429768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Game-to-Action Challenge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 · Tech · Art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297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553712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one game scenario into a tested seven-day household action guide.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1783080"/>
            <a:ext cx="3520440" cy="4297680"/>
          </a:xfrm>
          <a:prstGeom prst="rect">
            <a:avLst/>
          </a:prstGeom>
          <a:solidFill>
            <a:srgbClr val="0F2E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02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State-Hub Founding Sprint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Tech · Finance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297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553712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1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pilot state forms a verified founding team of 10 with roles, a meeting rhythm, and a first action.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46720" y="1783080"/>
            <a:ext cx="3520440" cy="429768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6676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03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Barnarium Discovery Cohort</a:t>
            </a:r>
            <a:endParaRPr lang="en-US" sz="23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· Food · Finance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4297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553712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discovery session on needs, assumptions, risks, and the next research steps.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·  BARNARIUM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place-based pathway for families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NETWORK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F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94360" cy="59436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4" y="202905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8745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person family compound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48640" y="2743200"/>
            <a:ext cx="594360" cy="59436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4" y="289773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7432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systems and long-term stewardship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548640" y="3611880"/>
            <a:ext cx="594360" cy="59436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376641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36118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six-pillar framework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548640" y="4480560"/>
            <a:ext cx="594360" cy="59436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4" y="4635094"/>
            <a:ext cx="285293" cy="28529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44805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savings calculator to explore the model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53949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C9D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One of Barnarium is a founding-family discovery and qualification process.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6720840" y="1783080"/>
            <a:ext cx="491947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708660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KNOW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7086600" y="2569464"/>
            <a:ext cx="201168" cy="201168"/>
          </a:xfrm>
          <a:prstGeom prst="ellipse">
            <a:avLst/>
          </a:prstGeom>
          <a:solidFill>
            <a:srgbClr val="D9A13B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7498080" y="25146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Barnarium is a separate qualification process — not automatic admission.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7086600" y="3438144"/>
            <a:ext cx="201168" cy="201168"/>
          </a:xfrm>
          <a:prstGeom prst="ellipse">
            <a:avLst/>
          </a:prstGeom>
          <a:solidFill>
            <a:srgbClr val="D9A13B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498080" y="338328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membership does not include Barnarium admission or property rights.</a:t>
            </a:r>
            <a:endParaRPr lang="en-US" sz="1450" dirty="0"/>
          </a:p>
        </p:txBody>
      </p:sp>
      <p:sp>
        <p:nvSpPr>
          <p:cNvPr id="26" name="Shape 19"/>
          <p:cNvSpPr/>
          <p:nvPr/>
        </p:nvSpPr>
        <p:spPr>
          <a:xfrm>
            <a:off x="7086600" y="4306824"/>
            <a:ext cx="201168" cy="201168"/>
          </a:xfrm>
          <a:prstGeom prst="ellipse">
            <a:avLst/>
          </a:prstGeom>
          <a:solidFill>
            <a:srgbClr val="D9A13B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7498080" y="42519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results are projections, not guarantees. Assumptions are published.</a:t>
            </a:r>
            <a:endParaRPr lang="en-US" sz="1450" dirty="0"/>
          </a:p>
        </p:txBody>
      </p:sp>
      <p:sp>
        <p:nvSpPr>
          <p:cNvPr id="28" name="Shape 21"/>
          <p:cNvSpPr/>
          <p:nvPr/>
        </p:nvSpPr>
        <p:spPr>
          <a:xfrm>
            <a:off x="7086600" y="5175504"/>
            <a:ext cx="201168" cy="201168"/>
          </a:xfrm>
          <a:prstGeom prst="ellipse">
            <a:avLst/>
          </a:prstGeom>
          <a:solidFill>
            <a:srgbClr val="D9A13B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7498080" y="51206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— vision, qualification, research, negotiation, ownership — is stated clearly.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NEXT STEP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path that matches your readiness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NETWORK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1091672" cy="932688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947672"/>
            <a:ext cx="603504" cy="603504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151" y="2104583"/>
            <a:ext cx="289682" cy="28968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1783080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Curious?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4434840" y="1783080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the F.A.C.T.S. model before deciding where you fit.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732520" y="1783080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50" b="1" dirty="0">
                <a:solidFill>
                  <a:srgbClr val="2F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C.U.I. Game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2862072"/>
            <a:ext cx="11091672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026664"/>
            <a:ext cx="603504" cy="603504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51" y="3183575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2862072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serve?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4434840" y="2862072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state hub and skills pathway turn interest into useful work.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732520" y="2862072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50" b="1" dirty="0">
                <a:solidFill>
                  <a:srgbClr val="2F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Join, assess, attend orientation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548640" y="3941064"/>
            <a:ext cx="11091672" cy="932688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05656"/>
            <a:ext cx="603504" cy="603504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51" y="4262567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3941064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organization?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4434840" y="3941064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requires verification, a named representative, and a defined contribution.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732520" y="3941064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50" b="1" dirty="0">
                <a:solidFill>
                  <a:srgbClr val="2F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 through the organization pathway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548640" y="5020056"/>
            <a:ext cx="11091672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777240" y="5184648"/>
            <a:ext cx="603504" cy="603504"/>
          </a:xfrm>
          <a:prstGeom prst="ellipse">
            <a:avLst/>
          </a:prstGeom>
          <a:solidFill>
            <a:srgbClr val="D9A13B"/>
          </a:solidFill>
          <a:ln w="12700">
            <a:solidFill>
              <a:srgbClr val="D9A13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341559"/>
            <a:ext cx="289682" cy="28968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45920" y="5020056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family ready for place?</a:t>
            </a:r>
            <a:endParaRPr lang="en-US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4434840" y="5020056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Barnarium is a separate discovery and qualification process.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8732520" y="5020056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50" b="1" dirty="0">
                <a:solidFill>
                  <a:srgbClr val="2F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vision; express informed interest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COMMITMENTS TO YOU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how this network runs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NETWORK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F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D9A13B"/>
          </a:solidFill>
          <a:ln w="12700">
            <a:solidFill>
              <a:srgbClr val="D9A13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2030882"/>
            <a:ext cx="373075" cy="373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828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privacy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2860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collect only what operations need. Nothing about your location, skills, readiness, or contact details is shared without your consent. Records are reconfirmed every 90 days.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72200" y="1828800"/>
            <a:ext cx="777240" cy="77724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282" y="20308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828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safety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2860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supports preparedness and coordination. It does not replace professional emergency services — in an emergency, call them first.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777240" cy="777240"/>
          </a:xfrm>
          <a:prstGeom prst="ellipse">
            <a:avLst/>
          </a:prstGeom>
          <a:solidFill>
            <a:srgbClr val="2F6B50"/>
          </a:solidFill>
          <a:ln w="12700">
            <a:solidFill>
              <a:srgbClr val="2F6B5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413400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931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money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43891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fundraising until entity, budget, approval, receipt, refund, and reporting controls are in place. Savings figures are labeled as projections.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72200" y="3931920"/>
            <a:ext cx="777240" cy="777240"/>
          </a:xfrm>
          <a:prstGeom prst="ellipse">
            <a:avLst/>
          </a:prstGeom>
          <a:solidFill>
            <a:srgbClr val="D9A13B"/>
          </a:solidFill>
          <a:ln w="12700">
            <a:solidFill>
              <a:srgbClr val="D9A13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282" y="4134002"/>
            <a:ext cx="373075" cy="37307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78040" y="3931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Straight answers</a:t>
            </a:r>
            <a:endParaRPr lang="en-US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7178040" y="43891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isn't ready — a link, a structure, a process — we'll say “not yet” and tell you what it will take.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30 DAYS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after launch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UNITY NETWORK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0F2E2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1764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published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965960" y="20848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walkthrough with timestamps for the game, the network, and Barnarium.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670048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0F2E2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267004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96596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follow-up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965960" y="2971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the one next step that fits where you are.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557016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0F2E2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55701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7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965960" y="3538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&amp; kickoff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965960" y="3858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groups launch; coordinators and pilots confirmed.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443984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0F2E2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44398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965960" y="44256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965960" y="47457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find where people get stuck and fix the process.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30952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D9A13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533095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30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965960" y="53126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965960" y="56327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report on outcomes, lessons, and the next cycle.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086600" y="1783080"/>
            <a:ext cx="4553712" cy="429768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40664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30-DAY GOALS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4066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hub with a verified founding team of 10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40664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0" y="3337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launched, at least 1 completed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40664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0" y="4206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groups active with a 30-day deliverable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7406640" y="5074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0" y="5074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progress report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291840"/>
            <a:ext cx="5120640" cy="5120640"/>
          </a:xfrm>
          <a:prstGeom prst="ellipse">
            <a:avLst/>
          </a:prstGeom>
          <a:solidFill>
            <a:srgbClr val="173F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your signed member assessment.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411480" cy="411480"/>
          </a:xfrm>
          <a:prstGeom prst="ellipse">
            <a:avLst/>
          </a:prstGeom>
          <a:solidFill>
            <a:srgbClr val="D9A1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926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assessment 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493008"/>
            <a:ext cx="411480" cy="411480"/>
          </a:xfrm>
          <a:prstGeom prst="ellipse">
            <a:avLst/>
          </a:prstGeom>
          <a:solidFill>
            <a:srgbClr val="D9A1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4930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it and sign your result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059936"/>
            <a:ext cx="411480" cy="411480"/>
          </a:xfrm>
          <a:prstGeom prst="ellipse">
            <a:avLst/>
          </a:prstGeom>
          <a:solidFill>
            <a:srgbClr val="D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059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05993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signed result back — the form does not save automatically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4626864"/>
            <a:ext cx="411480" cy="411480"/>
          </a:xfrm>
          <a:prstGeom prst="ellipse">
            <a:avLst/>
          </a:prstGeom>
          <a:solidFill>
            <a:srgbClr val="D9A1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626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62686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your orientation date</a:t>
            </a:r>
            <a:endParaRPr lang="en-US" sz="18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822960" y="5394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D9A1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muse.ai/s/assessment-form-sxl5xubsp5wxnxa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D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the model. Join the network. Build what your family and your community can stand 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Common Unity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Unity Network — Phase Two</dc:title>
  <dc:subject>PptxGenJS Presentation</dc:subject>
  <dc:creator>PptxGenJS</dc:creator>
  <cp:lastModifiedBy>PptxGenJS</cp:lastModifiedBy>
  <cp:revision>1</cp:revision>
  <dcterms:created xsi:type="dcterms:W3CDTF">2026-09-18T17:23:09Z</dcterms:created>
  <dcterms:modified xsi:type="dcterms:W3CDTF">2026-09-18T17:23:09Z</dcterms:modified>
</cp:coreProperties>
</file>